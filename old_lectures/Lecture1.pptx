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2"/>
  </p:notesMasterIdLst>
  <p:sldIdLst>
    <p:sldId id="256" r:id="rId2"/>
    <p:sldId id="288" r:id="rId3"/>
    <p:sldId id="257" r:id="rId4"/>
    <p:sldId id="260" r:id="rId5"/>
    <p:sldId id="265" r:id="rId6"/>
    <p:sldId id="262" r:id="rId7"/>
    <p:sldId id="261" r:id="rId8"/>
    <p:sldId id="258" r:id="rId9"/>
    <p:sldId id="259" r:id="rId10"/>
    <p:sldId id="271" r:id="rId11"/>
    <p:sldId id="277" r:id="rId12"/>
    <p:sldId id="273" r:id="rId13"/>
    <p:sldId id="274" r:id="rId14"/>
    <p:sldId id="278" r:id="rId15"/>
    <p:sldId id="279" r:id="rId16"/>
    <p:sldId id="286" r:id="rId17"/>
    <p:sldId id="281" r:id="rId18"/>
    <p:sldId id="282" r:id="rId19"/>
    <p:sldId id="283" r:id="rId20"/>
    <p:sldId id="290" r:id="rId21"/>
    <p:sldId id="285" r:id="rId22"/>
    <p:sldId id="287" r:id="rId23"/>
    <p:sldId id="284" r:id="rId24"/>
    <p:sldId id="289" r:id="rId25"/>
    <p:sldId id="291" r:id="rId26"/>
    <p:sldId id="292" r:id="rId27"/>
    <p:sldId id="296" r:id="rId28"/>
    <p:sldId id="280" r:id="rId29"/>
    <p:sldId id="293" r:id="rId30"/>
    <p:sldId id="295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21F4EC-EE7E-4F76-8653-AC39FCD849B8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DAFF6-4ABE-4186-9216-F02571AB09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842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2015/3/31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eb.stanford.edu/class/physics91SI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44985" y="1340768"/>
            <a:ext cx="6335688" cy="2448272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   </a:t>
            </a:r>
            <a:br>
              <a:rPr lang="en-US" altLang="zh-CN" dirty="0" smtClean="0"/>
            </a:br>
            <a:r>
              <a:rPr lang="en-US" altLang="zh-CN" b="1" dirty="0" smtClean="0"/>
              <a:t>Lecture 1</a:t>
            </a:r>
            <a:br>
              <a:rPr lang="en-US" altLang="zh-CN" b="1" dirty="0" smtClean="0"/>
            </a:br>
            <a:r>
              <a:rPr lang="en-US" altLang="zh-CN" b="1" dirty="0" smtClean="0"/>
              <a:t/>
            </a:r>
            <a:br>
              <a:rPr lang="en-US" altLang="zh-CN" b="1" dirty="0" smtClean="0"/>
            </a:br>
            <a:r>
              <a:rPr lang="en-US" altLang="zh-CN" b="1" dirty="0" smtClean="0"/>
              <a:t>- Introduction</a:t>
            </a:r>
            <a:br>
              <a:rPr lang="en-US" altLang="zh-CN" b="1" dirty="0" smtClean="0"/>
            </a:br>
            <a:r>
              <a:rPr lang="en-US" altLang="zh-CN" b="1" dirty="0" smtClean="0"/>
              <a:t>- Basic Python Syntax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11760" y="4365104"/>
            <a:ext cx="6400800" cy="1752600"/>
          </a:xfrm>
        </p:spPr>
        <p:txBody>
          <a:bodyPr/>
          <a:lstStyle/>
          <a:p>
            <a:pPr algn="r"/>
            <a:r>
              <a:rPr lang="en-US" altLang="zh-CN" dirty="0" err="1" smtClean="0">
                <a:solidFill>
                  <a:schemeClr val="tx1"/>
                </a:solidFill>
              </a:rPr>
              <a:t>Qingyang</a:t>
            </a:r>
            <a:r>
              <a:rPr lang="en-US" altLang="zh-CN" dirty="0" smtClean="0">
                <a:solidFill>
                  <a:schemeClr val="tx1"/>
                </a:solidFill>
              </a:rPr>
              <a:t> “Young” </a:t>
            </a:r>
            <a:r>
              <a:rPr lang="en-US" altLang="zh-CN" dirty="0" err="1" smtClean="0">
                <a:solidFill>
                  <a:schemeClr val="tx1"/>
                </a:solidFill>
              </a:rPr>
              <a:t>Xu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r"/>
            <a:r>
              <a:rPr lang="en-US" altLang="zh-CN" dirty="0" smtClean="0">
                <a:solidFill>
                  <a:schemeClr val="tx1"/>
                </a:solidFill>
              </a:rPr>
              <a:t>March 31, 2015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17346" y="6483146"/>
            <a:ext cx="2526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Physics </a:t>
            </a:r>
            <a:r>
              <a:rPr lang="en-US" altLang="zh-CN" dirty="0" smtClean="0"/>
              <a:t>91SI, Spring 2015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425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620688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Learning Goals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2060848"/>
            <a:ext cx="7776864" cy="4176464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Why Physics 91SI?</a:t>
            </a:r>
          </a:p>
          <a:p>
            <a:endParaRPr lang="en-US" altLang="zh-CN" dirty="0"/>
          </a:p>
          <a:p>
            <a:r>
              <a:rPr lang="en-US" altLang="zh-CN" dirty="0" smtClean="0"/>
              <a:t>What does “practical computation” mean?</a:t>
            </a:r>
          </a:p>
          <a:p>
            <a:endParaRPr lang="en-US" altLang="zh-CN" dirty="0"/>
          </a:p>
          <a:p>
            <a:r>
              <a:rPr lang="en-US" altLang="zh-CN" dirty="0" smtClean="0"/>
              <a:t>How to write basic Python?</a:t>
            </a:r>
          </a:p>
          <a:p>
            <a:endParaRPr lang="en-US" altLang="zh-CN" dirty="0"/>
          </a:p>
          <a:p>
            <a:r>
              <a:rPr lang="en-US" altLang="zh-CN" dirty="0"/>
              <a:t>Why Python for this class?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675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6368" y="332656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Logistics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412776"/>
            <a:ext cx="8424936" cy="5544616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b="1" dirty="0" smtClean="0"/>
              <a:t>Instructors:</a:t>
            </a:r>
          </a:p>
          <a:p>
            <a:r>
              <a:rPr lang="en-US" altLang="zh-CN" dirty="0" smtClean="0"/>
              <a:t>Conrad </a:t>
            </a:r>
            <a:r>
              <a:rPr lang="en-US" altLang="zh-CN" dirty="0" err="1" smtClean="0"/>
              <a:t>Stansbury</a:t>
            </a:r>
            <a:endParaRPr lang="en-US" altLang="zh-CN" dirty="0" smtClean="0"/>
          </a:p>
          <a:p>
            <a:r>
              <a:rPr lang="en-US" altLang="zh-CN" dirty="0" err="1" smtClean="0"/>
              <a:t>Qingyang</a:t>
            </a:r>
            <a:r>
              <a:rPr lang="en-US" altLang="zh-CN" dirty="0" smtClean="0"/>
              <a:t> “Young” </a:t>
            </a:r>
            <a:r>
              <a:rPr lang="en-US" altLang="zh-CN" dirty="0" err="1" smtClean="0"/>
              <a:t>Xu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b="1" dirty="0" smtClean="0"/>
              <a:t>Faculty Mentor: </a:t>
            </a:r>
            <a:r>
              <a:rPr lang="en-US" altLang="zh-CN" dirty="0" smtClean="0"/>
              <a:t>Prof. </a:t>
            </a:r>
            <a:r>
              <a:rPr lang="en-US" altLang="zh-CN" dirty="0" err="1" smtClean="0"/>
              <a:t>Risa</a:t>
            </a:r>
            <a:r>
              <a:rPr lang="en-US" altLang="zh-CN" dirty="0" smtClean="0"/>
              <a:t> Wechsler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 smtClean="0"/>
              <a:t>Office Hours:</a:t>
            </a:r>
          </a:p>
          <a:p>
            <a:r>
              <a:rPr lang="en-US" altLang="zh-CN" dirty="0" smtClean="0"/>
              <a:t>Conrad: WF 1-3 p.m. </a:t>
            </a:r>
            <a:r>
              <a:rPr lang="en-US" altLang="zh-CN" dirty="0" err="1" smtClean="0"/>
              <a:t>Coupa</a:t>
            </a:r>
            <a:r>
              <a:rPr lang="en-US" altLang="zh-CN" dirty="0" smtClean="0"/>
              <a:t> Café Y2E2</a:t>
            </a:r>
          </a:p>
          <a:p>
            <a:r>
              <a:rPr lang="en-US" altLang="zh-CN" dirty="0" smtClean="0"/>
              <a:t>Young, Gabe, Sunil: by appointment</a:t>
            </a:r>
          </a:p>
          <a:p>
            <a:endParaRPr lang="en-US" altLang="zh-CN" dirty="0"/>
          </a:p>
          <a:p>
            <a:r>
              <a:rPr lang="en-US" altLang="zh-CN" b="1" dirty="0"/>
              <a:t>Website</a:t>
            </a:r>
            <a:r>
              <a:rPr lang="en-US" altLang="zh-CN" dirty="0"/>
              <a:t> </a:t>
            </a:r>
            <a:r>
              <a:rPr lang="en-US" altLang="zh-CN" dirty="0">
                <a:hlinkClick r:id="rId2"/>
              </a:rPr>
              <a:t>http://web.stanford.edu/class/physics91SI</a:t>
            </a:r>
            <a:r>
              <a:rPr lang="en-US" altLang="zh-CN" dirty="0" smtClean="0">
                <a:hlinkClick r:id="rId2"/>
              </a:rPr>
              <a:t>/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56584" y="1268760"/>
            <a:ext cx="385192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5760" indent="-283464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altLang="zh-CN" sz="3000" b="1" dirty="0" smtClean="0"/>
              <a:t>Course Advisors:</a:t>
            </a:r>
          </a:p>
          <a:p>
            <a:pPr marL="365760" indent="-283464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altLang="zh-CN" sz="3000" dirty="0" smtClean="0"/>
              <a:t>Gabe Ehrlich</a:t>
            </a:r>
          </a:p>
          <a:p>
            <a:pPr marL="365760" indent="-283464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altLang="zh-CN" sz="3000" dirty="0" smtClean="0"/>
              <a:t>Sunil </a:t>
            </a:r>
            <a:r>
              <a:rPr lang="en-US" altLang="zh-CN" sz="3000" dirty="0" err="1"/>
              <a:t>Deolalikar</a:t>
            </a:r>
            <a:endParaRPr lang="en-US" altLang="zh-CN" sz="3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492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Course Content Overview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8112" y="1484784"/>
            <a:ext cx="8028384" cy="50405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b="1" dirty="0" smtClean="0"/>
              <a:t>What you learn… </a:t>
            </a:r>
          </a:p>
          <a:p>
            <a:pPr marL="82296" indent="0">
              <a:buNone/>
            </a:pPr>
            <a:r>
              <a:rPr lang="en-US" altLang="zh-CN" dirty="0" smtClean="0"/>
              <a:t>   - Unix operating system and commands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- “speak Python</a:t>
            </a:r>
            <a:r>
              <a:rPr lang="en-US" altLang="zh-CN" dirty="0" smtClean="0"/>
              <a:t>” in research context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- basic syntax and data structures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- scientific Python (processing &amp; presenting)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- object-oriented / functional programming</a:t>
            </a:r>
          </a:p>
          <a:p>
            <a:endParaRPr lang="en-US" altLang="zh-CN" dirty="0" smtClean="0"/>
          </a:p>
          <a:p>
            <a:r>
              <a:rPr lang="en-US" altLang="zh-CN" b="1" dirty="0" smtClean="0"/>
              <a:t>What you do…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- submit in-class lab assignments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- design and complete the final project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662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44624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General Learning Goals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196752"/>
            <a:ext cx="7848872" cy="5544616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b="1" dirty="0" smtClean="0"/>
              <a:t>What’s up? </a:t>
            </a:r>
          </a:p>
          <a:p>
            <a:pPr marL="82296" indent="0">
              <a:buNone/>
            </a:pPr>
            <a:r>
              <a:rPr lang="en-US" altLang="zh-CN" i="1" dirty="0"/>
              <a:t> </a:t>
            </a:r>
            <a:r>
              <a:rPr lang="en-US" altLang="zh-CN" i="1" dirty="0" smtClean="0"/>
              <a:t>  - How </a:t>
            </a:r>
            <a:r>
              <a:rPr lang="en-US" altLang="zh-CN" i="1" dirty="0"/>
              <a:t>do I plan a project and execute my plan? </a:t>
            </a:r>
            <a:endParaRPr lang="en-US" altLang="zh-CN" i="1" dirty="0" smtClean="0"/>
          </a:p>
          <a:p>
            <a:pPr marL="82296" indent="0">
              <a:buNone/>
            </a:pPr>
            <a:r>
              <a:rPr lang="en-US" altLang="zh-CN" i="1" dirty="0" smtClean="0"/>
              <a:t>   - data flow, work flow, decomposition of task</a:t>
            </a:r>
          </a:p>
          <a:p>
            <a:pPr marL="82296" indent="0">
              <a:buNone/>
            </a:pPr>
            <a:endParaRPr lang="en-US" altLang="zh-CN" dirty="0" smtClean="0"/>
          </a:p>
          <a:p>
            <a:r>
              <a:rPr lang="en-US" altLang="zh-CN" b="1" dirty="0" smtClean="0"/>
              <a:t>What’s next?</a:t>
            </a:r>
          </a:p>
          <a:p>
            <a:pPr marL="82296" indent="0">
              <a:buNone/>
            </a:pPr>
            <a:r>
              <a:rPr lang="en-US" altLang="zh-CN" i="1" dirty="0" smtClean="0"/>
              <a:t>   - What characters do I type next? </a:t>
            </a:r>
          </a:p>
          <a:p>
            <a:pPr marL="82296" indent="0">
              <a:buNone/>
            </a:pPr>
            <a:r>
              <a:rPr lang="en-US" altLang="zh-CN" i="1" dirty="0" smtClean="0"/>
              <a:t>   - syntax &amp; functionality (how &amp; what)</a:t>
            </a:r>
          </a:p>
          <a:p>
            <a:pPr marL="82296" indent="0">
              <a:buNone/>
            </a:pPr>
            <a:endParaRPr lang="en-US" altLang="zh-CN" dirty="0" smtClean="0"/>
          </a:p>
          <a:p>
            <a:r>
              <a:rPr lang="en-US" altLang="zh-CN" b="1" dirty="0" smtClean="0"/>
              <a:t>What’s wrong?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- </a:t>
            </a:r>
            <a:r>
              <a:rPr lang="en-US" altLang="zh-CN" i="1" dirty="0"/>
              <a:t>debugging &amp; testing with Python </a:t>
            </a:r>
          </a:p>
          <a:p>
            <a:endParaRPr lang="en-US" altLang="zh-CN" dirty="0" smtClean="0"/>
          </a:p>
          <a:p>
            <a:r>
              <a:rPr lang="en-US" altLang="zh-CN" b="1" dirty="0" smtClean="0"/>
              <a:t>What’s that?</a:t>
            </a:r>
          </a:p>
          <a:p>
            <a:pPr marL="82296" indent="0">
              <a:buNone/>
            </a:pPr>
            <a:r>
              <a:rPr lang="en-US" altLang="zh-CN" i="1" dirty="0" smtClean="0"/>
              <a:t>   - How </a:t>
            </a:r>
            <a:r>
              <a:rPr lang="en-US" altLang="zh-CN" i="1" dirty="0"/>
              <a:t>do I communicate science and Python with others? </a:t>
            </a:r>
            <a:endParaRPr lang="en-US" altLang="zh-CN" dirty="0" smtClean="0"/>
          </a:p>
          <a:p>
            <a:pPr marL="82296" indent="0">
              <a:buNone/>
            </a:pPr>
            <a:r>
              <a:rPr lang="en-US" altLang="zh-CN" dirty="0" smtClean="0"/>
              <a:t>   </a:t>
            </a:r>
            <a:r>
              <a:rPr lang="en-US" altLang="zh-CN" i="1" dirty="0"/>
              <a:t>- </a:t>
            </a:r>
            <a:r>
              <a:rPr lang="en-US" altLang="zh-CN" i="1" dirty="0" smtClean="0"/>
              <a:t>plotting </a:t>
            </a:r>
            <a:r>
              <a:rPr lang="en-US" altLang="zh-CN" i="1" dirty="0"/>
              <a:t>&amp; </a:t>
            </a:r>
            <a:r>
              <a:rPr lang="en-US" altLang="zh-CN" i="1" dirty="0" smtClean="0"/>
              <a:t>documentation</a:t>
            </a:r>
            <a:endParaRPr lang="en-US" altLang="zh-CN" i="1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8294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44624"/>
            <a:ext cx="8316416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You should know the answers to…</a:t>
            </a:r>
            <a:endParaRPr lang="zh-CN" altLang="en-US" dirty="0"/>
          </a:p>
        </p:txBody>
      </p:sp>
      <p:pic>
        <p:nvPicPr>
          <p:cNvPr id="4" name="内容占位符 4"/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676684"/>
            <a:ext cx="5779835" cy="4632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73747" y="6290156"/>
            <a:ext cx="20266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What’s up?</a:t>
            </a:r>
            <a:endParaRPr lang="zh-CN" alt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782967" y="1124744"/>
            <a:ext cx="26612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/>
              <a:t>What’s next?</a:t>
            </a:r>
            <a:endParaRPr lang="zh-CN" altLang="en-US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619672" y="6290156"/>
            <a:ext cx="2655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What’s wrong?</a:t>
            </a:r>
            <a:endParaRPr lang="zh-CN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366533" y="3060249"/>
            <a:ext cx="25979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/>
              <a:t>What’s that?</a:t>
            </a:r>
            <a:endParaRPr lang="zh-CN" altLang="en-US" sz="3200" b="1" dirty="0"/>
          </a:p>
        </p:txBody>
      </p:sp>
      <p:sp>
        <p:nvSpPr>
          <p:cNvPr id="9" name="下箭头 8"/>
          <p:cNvSpPr/>
          <p:nvPr/>
        </p:nvSpPr>
        <p:spPr>
          <a:xfrm rot="4153037">
            <a:off x="6060899" y="3364485"/>
            <a:ext cx="628987" cy="14682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18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18864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Magic words... always ask yourself…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484784"/>
            <a:ext cx="7776864" cy="5184576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So what? </a:t>
            </a:r>
          </a:p>
          <a:p>
            <a:r>
              <a:rPr lang="en-US" altLang="zh-CN" dirty="0"/>
              <a:t>Does the algorithm make sense so far?</a:t>
            </a:r>
          </a:p>
          <a:p>
            <a:r>
              <a:rPr lang="en-US" altLang="zh-CN" dirty="0" smtClean="0"/>
              <a:t>What will the algorithm do </a:t>
            </a:r>
            <a:r>
              <a:rPr lang="en-US" altLang="zh-CN" dirty="0"/>
              <a:t>next</a:t>
            </a:r>
            <a:r>
              <a:rPr lang="en-US" altLang="zh-CN" dirty="0" smtClean="0"/>
              <a:t>?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Or what? </a:t>
            </a:r>
          </a:p>
          <a:p>
            <a:r>
              <a:rPr lang="en-US" altLang="zh-CN" dirty="0" smtClean="0"/>
              <a:t>What are some alternatives and possibly optimizations of the current algorithm?</a:t>
            </a:r>
          </a:p>
          <a:p>
            <a:r>
              <a:rPr lang="en-US" altLang="zh-CN" dirty="0" smtClean="0"/>
              <a:t>What are the tradeoffs of different approaches?</a:t>
            </a:r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8285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0384" y="44624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Grading Policy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600" y="1340768"/>
            <a:ext cx="8064896" cy="5472608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 smtClean="0"/>
              <a:t>Final grade is based on </a:t>
            </a:r>
            <a:r>
              <a:rPr lang="en-US" altLang="zh-CN" b="1" dirty="0" smtClean="0"/>
              <a:t>quality of your work </a:t>
            </a:r>
            <a:r>
              <a:rPr lang="en-US" altLang="zh-CN" dirty="0" smtClean="0"/>
              <a:t>and </a:t>
            </a:r>
            <a:r>
              <a:rPr lang="en-US" altLang="zh-CN" b="1" dirty="0" smtClean="0"/>
              <a:t>consistency of your effort </a:t>
            </a:r>
            <a:r>
              <a:rPr lang="en-US" altLang="zh-CN" dirty="0" smtClean="0"/>
              <a:t>throughout.</a:t>
            </a:r>
          </a:p>
          <a:p>
            <a:r>
              <a:rPr lang="en-US" altLang="zh-CN" dirty="0" smtClean="0"/>
              <a:t>To get CREDIT for this class, you need to…</a:t>
            </a:r>
          </a:p>
          <a:p>
            <a:endParaRPr lang="en-US" altLang="zh-CN" dirty="0" smtClean="0"/>
          </a:p>
          <a:p>
            <a:r>
              <a:rPr lang="en-US" altLang="zh-CN" dirty="0" smtClean="0">
                <a:solidFill>
                  <a:srgbClr val="FF0000"/>
                </a:solidFill>
              </a:rPr>
              <a:t>C</a:t>
            </a:r>
            <a:r>
              <a:rPr lang="en-US" altLang="zh-CN" dirty="0" smtClean="0"/>
              <a:t>ome to the lectures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R</a:t>
            </a:r>
            <a:r>
              <a:rPr lang="en-US" altLang="zh-CN" dirty="0" smtClean="0"/>
              <a:t>eady to learn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E</a:t>
            </a:r>
            <a:r>
              <a:rPr lang="en-US" altLang="zh-CN" dirty="0" smtClean="0"/>
              <a:t>ngage in class discussion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en-US" altLang="zh-CN" dirty="0" smtClean="0"/>
              <a:t>o the labs and submit working code on time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I</a:t>
            </a:r>
            <a:r>
              <a:rPr lang="en-US" altLang="zh-CN" dirty="0" smtClean="0"/>
              <a:t>mprove on mistakes and make progress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T</a:t>
            </a:r>
            <a:r>
              <a:rPr lang="en-US" altLang="zh-CN" dirty="0" smtClean="0"/>
              <a:t>ackle the final project (to be specified later)</a:t>
            </a:r>
          </a:p>
          <a:p>
            <a:endParaRPr lang="en-US" altLang="zh-CN" dirty="0"/>
          </a:p>
          <a:p>
            <a:r>
              <a:rPr lang="en-US" altLang="zh-CN" dirty="0" smtClean="0"/>
              <a:t>Remember: we are here to help you succeed!</a:t>
            </a:r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25516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eb.stanford.edu/class/archive/cs/cs106a/cs106a.1124/kar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848791"/>
            <a:ext cx="2304256" cy="231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197768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Programming Prerequisites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600" y="1340768"/>
            <a:ext cx="8100392" cy="54006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 smtClean="0"/>
              <a:t>We assume you are familiar with…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Basic data types (integer, </a:t>
            </a:r>
            <a:r>
              <a:rPr lang="en-US" altLang="zh-CN" dirty="0" err="1" smtClean="0"/>
              <a:t>boolean</a:t>
            </a:r>
            <a:r>
              <a:rPr lang="en-US" altLang="zh-CN" dirty="0" smtClean="0"/>
              <a:t>, string…)</a:t>
            </a:r>
          </a:p>
          <a:p>
            <a:r>
              <a:rPr lang="en-US" altLang="zh-CN" dirty="0" smtClean="0"/>
              <a:t>Assigning value to variable</a:t>
            </a:r>
          </a:p>
          <a:p>
            <a:r>
              <a:rPr lang="en-US" altLang="zh-CN" dirty="0" smtClean="0"/>
              <a:t>Iterating with for/while loops</a:t>
            </a:r>
          </a:p>
          <a:p>
            <a:r>
              <a:rPr lang="en-US" altLang="zh-CN" dirty="0" smtClean="0"/>
              <a:t>Control statement (if/else)</a:t>
            </a:r>
          </a:p>
          <a:p>
            <a:r>
              <a:rPr lang="en-US" altLang="zh-CN" dirty="0" smtClean="0"/>
              <a:t>Functions, Parameters, Return Types</a:t>
            </a:r>
          </a:p>
          <a:p>
            <a:r>
              <a:rPr lang="en-US" altLang="zh-CN" dirty="0"/>
              <a:t>Basic data </a:t>
            </a:r>
            <a:r>
              <a:rPr lang="en-US" altLang="zh-CN" dirty="0" smtClean="0"/>
              <a:t>structures (array)</a:t>
            </a: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Ordeal of debugging</a:t>
            </a: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Basic program designing</a:t>
            </a:r>
          </a:p>
          <a:p>
            <a:pPr marL="82296" indent="0">
              <a:buNone/>
            </a:pPr>
            <a:endParaRPr lang="en-US" altLang="zh-CN" dirty="0" smtClean="0"/>
          </a:p>
          <a:p>
            <a:r>
              <a:rPr lang="en-US" altLang="zh-CN" dirty="0" smtClean="0"/>
              <a:t>When in doubt, just ask!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52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028384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General advice for learning new syntax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600" y="1556792"/>
            <a:ext cx="8159600" cy="504056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 smtClean="0"/>
              <a:t>When in doubt, first make a </a:t>
            </a:r>
            <a:r>
              <a:rPr lang="en-US" altLang="zh-CN" dirty="0" smtClean="0">
                <a:solidFill>
                  <a:srgbClr val="FF0000"/>
                </a:solidFill>
              </a:rPr>
              <a:t>guess</a:t>
            </a:r>
            <a:r>
              <a:rPr lang="en-US" altLang="zh-CN" dirty="0" smtClean="0"/>
              <a:t> and </a:t>
            </a:r>
            <a:r>
              <a:rPr lang="en-US" altLang="zh-CN" dirty="0" smtClean="0">
                <a:solidFill>
                  <a:srgbClr val="FF0000"/>
                </a:solidFill>
              </a:rPr>
              <a:t>try</a:t>
            </a:r>
            <a:r>
              <a:rPr lang="en-US" altLang="zh-CN" dirty="0" smtClean="0"/>
              <a:t>!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- guessing fosters intuition of the language</a:t>
            </a:r>
          </a:p>
          <a:p>
            <a:pPr marL="82296" indent="0">
              <a:buNone/>
            </a:pPr>
            <a:r>
              <a:rPr lang="en-US" altLang="zh-CN" dirty="0" smtClean="0"/>
              <a:t>   - </a:t>
            </a:r>
            <a:r>
              <a:rPr lang="en-US" altLang="zh-CN" smtClean="0"/>
              <a:t>playing around </a:t>
            </a:r>
            <a:r>
              <a:rPr lang="en-US" altLang="zh-CN" dirty="0" smtClean="0"/>
              <a:t>deepens the memory footprint</a:t>
            </a:r>
          </a:p>
          <a:p>
            <a:pPr marL="82296" indent="0">
              <a:buNone/>
            </a:pPr>
            <a:endParaRPr lang="en-US" altLang="zh-CN" dirty="0" smtClean="0"/>
          </a:p>
          <a:p>
            <a:r>
              <a:rPr lang="en-US" altLang="zh-CN" dirty="0" smtClean="0"/>
              <a:t>If that doesn’t work, then look for the </a:t>
            </a:r>
            <a:r>
              <a:rPr lang="en-US" altLang="zh-CN" dirty="0" smtClean="0">
                <a:solidFill>
                  <a:srgbClr val="FF0000"/>
                </a:solidFill>
              </a:rPr>
              <a:t>documentation,</a:t>
            </a:r>
            <a:r>
              <a:rPr lang="en-US" altLang="zh-CN" dirty="0" smtClean="0"/>
              <a:t> </a:t>
            </a:r>
            <a:r>
              <a:rPr lang="en-US" altLang="zh-CN" dirty="0">
                <a:solidFill>
                  <a:srgbClr val="FF0000"/>
                </a:solidFill>
              </a:rPr>
              <a:t>manual,</a:t>
            </a:r>
            <a:r>
              <a:rPr lang="en-US" altLang="zh-CN" dirty="0" smtClean="0"/>
              <a:t> or </a:t>
            </a:r>
            <a:r>
              <a:rPr lang="en-US" altLang="zh-CN" dirty="0" smtClean="0">
                <a:solidFill>
                  <a:srgbClr val="FF0000"/>
                </a:solidFill>
              </a:rPr>
              <a:t>cheat sheet</a:t>
            </a:r>
            <a:r>
              <a:rPr lang="en-US" altLang="zh-CN" dirty="0" smtClean="0"/>
              <a:t>.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If that doesn’t solve your problem, then simply </a:t>
            </a:r>
            <a:r>
              <a:rPr lang="en-US" altLang="zh-CN" dirty="0" smtClean="0">
                <a:solidFill>
                  <a:srgbClr val="FF0000"/>
                </a:solidFill>
              </a:rPr>
              <a:t>Google</a:t>
            </a:r>
            <a:r>
              <a:rPr lang="en-US" altLang="zh-CN" dirty="0" smtClean="0"/>
              <a:t> it!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If Google fails you, then let </a:t>
            </a:r>
            <a:r>
              <a:rPr lang="en-US" altLang="zh-CN" dirty="0" smtClean="0">
                <a:solidFill>
                  <a:srgbClr val="FF0000"/>
                </a:solidFill>
              </a:rPr>
              <a:t>us</a:t>
            </a:r>
            <a:r>
              <a:rPr lang="en-US" altLang="zh-CN" dirty="0"/>
              <a:t> </a:t>
            </a:r>
            <a:r>
              <a:rPr lang="en-US" altLang="zh-CN" dirty="0" smtClean="0"/>
              <a:t>know!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944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115616" y="620688"/>
            <a:ext cx="8352928" cy="1791072"/>
          </a:xfrm>
        </p:spPr>
        <p:txBody>
          <a:bodyPr>
            <a:normAutofit/>
          </a:bodyPr>
          <a:lstStyle/>
          <a:p>
            <a:r>
              <a:rPr lang="en-US" altLang="zh-CN" sz="5400" dirty="0" smtClean="0"/>
              <a:t>Basic Python Syntax</a:t>
            </a:r>
            <a:endParaRPr lang="zh-CN" altLang="en-US" sz="5400" dirty="0"/>
          </a:p>
        </p:txBody>
      </p:sp>
      <p:pic>
        <p:nvPicPr>
          <p:cNvPr id="1026" name="Picture 2" descr="http://sphaerula.com/images/fly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220" y="2420888"/>
            <a:ext cx="6212148" cy="3849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32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936104"/>
            <a:ext cx="8568952" cy="587727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How to assign value to variables in Python?</a:t>
            </a:r>
          </a:p>
          <a:p>
            <a:r>
              <a:rPr lang="en-US" altLang="zh-CN" dirty="0" smtClean="0"/>
              <a:t>Let’s look at two English sentences:</a:t>
            </a:r>
          </a:p>
          <a:p>
            <a:pPr marL="82296" indent="0">
              <a:buNone/>
            </a:pPr>
            <a:endParaRPr lang="en-US" altLang="zh-CN" dirty="0" smtClean="0"/>
          </a:p>
          <a:p>
            <a:pPr marL="82296" indent="0">
              <a:buNone/>
            </a:pPr>
            <a:r>
              <a:rPr lang="en-US" altLang="zh-CN" dirty="0" smtClean="0"/>
              <a:t>   - “I </a:t>
            </a:r>
            <a:r>
              <a:rPr lang="en-US" altLang="zh-CN" dirty="0" smtClean="0">
                <a:solidFill>
                  <a:srgbClr val="FF0000"/>
                </a:solidFill>
              </a:rPr>
              <a:t>slept</a:t>
            </a:r>
            <a:r>
              <a:rPr lang="en-US" altLang="zh-CN" dirty="0" smtClean="0"/>
              <a:t> yesterday.”</a:t>
            </a:r>
          </a:p>
          <a:p>
            <a:pPr marL="82296" indent="0">
              <a:buNone/>
            </a:pPr>
            <a:r>
              <a:rPr lang="en-US" altLang="zh-CN" dirty="0" smtClean="0"/>
              <a:t>   - “I </a:t>
            </a:r>
            <a:r>
              <a:rPr lang="en-US" altLang="zh-CN" dirty="0" smtClean="0">
                <a:solidFill>
                  <a:srgbClr val="FF0000"/>
                </a:solidFill>
              </a:rPr>
              <a:t>sleep</a:t>
            </a:r>
            <a:r>
              <a:rPr lang="en-US" altLang="zh-CN" dirty="0" smtClean="0"/>
              <a:t> yesterday.”</a:t>
            </a:r>
          </a:p>
          <a:p>
            <a:pPr marL="82296" indent="0">
              <a:buNone/>
            </a:pPr>
            <a:endParaRPr lang="en-US" altLang="zh-CN" dirty="0" smtClean="0"/>
          </a:p>
          <a:p>
            <a:pPr marL="82296" indent="0">
              <a:buNone/>
            </a:pPr>
            <a:r>
              <a:rPr lang="en-US" altLang="zh-CN" dirty="0" smtClean="0"/>
              <a:t> - Both sentences convey the </a:t>
            </a:r>
            <a:r>
              <a:rPr lang="en-US" altLang="zh-CN" dirty="0" smtClean="0">
                <a:solidFill>
                  <a:srgbClr val="FF0000"/>
                </a:solidFill>
              </a:rPr>
              <a:t>same textual </a:t>
            </a:r>
          </a:p>
          <a:p>
            <a:pPr marL="82296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   information</a:t>
            </a:r>
            <a:r>
              <a:rPr lang="en-US" altLang="zh-CN" dirty="0" smtClean="0"/>
              <a:t>, but the verb in the second 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sentence has the wrong tense, which is</a:t>
            </a:r>
          </a:p>
          <a:p>
            <a:pPr marL="82296" indent="0">
              <a:buNone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0000"/>
                </a:solidFill>
              </a:rPr>
              <a:t>grammatically unacceptable (a bug)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pPr marL="82296" indent="0">
              <a:buNone/>
            </a:pPr>
            <a:r>
              <a:rPr lang="en-US" altLang="zh-CN" dirty="0" smtClean="0"/>
              <a:t> - On the other hand,  one might argue the </a:t>
            </a:r>
          </a:p>
          <a:p>
            <a:pPr marL="82296" indent="0">
              <a:buNone/>
            </a:pPr>
            <a:r>
              <a:rPr lang="en-US" altLang="zh-CN" dirty="0" smtClean="0"/>
              <a:t>   first sentence carries </a:t>
            </a:r>
            <a:r>
              <a:rPr lang="en-US" altLang="zh-CN" dirty="0" smtClean="0">
                <a:solidFill>
                  <a:srgbClr val="FF0000"/>
                </a:solidFill>
              </a:rPr>
              <a:t>redundant information</a:t>
            </a:r>
            <a:r>
              <a:rPr lang="en-US" altLang="zh-CN" dirty="0" smtClean="0"/>
              <a:t>.  </a:t>
            </a:r>
            <a:endParaRPr lang="zh-CN" altLang="en-US" dirty="0"/>
          </a:p>
        </p:txBody>
      </p:sp>
      <p:pic>
        <p:nvPicPr>
          <p:cNvPr id="1026" name="Picture 2" descr="http://osx.wdfiles.com/local--files/icon:scriptdebugger5icon/ScriptDebugger5Ic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641847"/>
            <a:ext cx="1075184" cy="107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115616" y="-27384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Variable Declaration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665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052736"/>
            <a:ext cx="7746064" cy="5400600"/>
          </a:xfrm>
        </p:spPr>
        <p:txBody>
          <a:bodyPr/>
          <a:lstStyle/>
          <a:p>
            <a:r>
              <a:rPr lang="en-US" altLang="zh-CN" dirty="0" smtClean="0"/>
              <a:t>In Python, variables are declared without specifying the type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, string, </a:t>
            </a:r>
            <a:r>
              <a:rPr lang="en-US" altLang="zh-CN" dirty="0" err="1" smtClean="0"/>
              <a:t>bool</a:t>
            </a:r>
            <a:r>
              <a:rPr lang="en-US" altLang="zh-CN" dirty="0" smtClean="0"/>
              <a:t>, etc.)</a:t>
            </a:r>
          </a:p>
          <a:p>
            <a:endParaRPr lang="en-US" altLang="zh-CN" dirty="0"/>
          </a:p>
          <a:p>
            <a:pPr marL="82296" indent="0">
              <a:buNone/>
            </a:pPr>
            <a:endParaRPr lang="en-US" altLang="zh-CN" dirty="0" smtClean="0"/>
          </a:p>
        </p:txBody>
      </p:sp>
      <p:sp>
        <p:nvSpPr>
          <p:cNvPr id="4" name="标题 3"/>
          <p:cNvSpPr txBox="1">
            <a:spLocks/>
          </p:cNvSpPr>
          <p:nvPr/>
        </p:nvSpPr>
        <p:spPr>
          <a:xfrm>
            <a:off x="1259632" y="44624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altLang="zh-CN" dirty="0" smtClean="0"/>
              <a:t>Variable Declaration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678386"/>
              </p:ext>
            </p:extLst>
          </p:nvPr>
        </p:nvGraphicFramePr>
        <p:xfrm>
          <a:off x="1691680" y="2348880"/>
          <a:ext cx="6768752" cy="4248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6"/>
                <a:gridCol w="3384376"/>
              </a:tblGrid>
              <a:tr h="60692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Java</a:t>
                      </a:r>
                      <a:r>
                        <a:rPr lang="en-US" altLang="zh-CN" baseline="0" dirty="0" smtClean="0"/>
                        <a:t> &amp; </a:t>
                      </a:r>
                      <a:r>
                        <a:rPr lang="en-US" altLang="zh-CN" dirty="0" smtClean="0"/>
                        <a:t>C++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Python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60692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I slept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 yesterday.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I sleep yesterday.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60692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int</a:t>
                      </a:r>
                      <a:r>
                        <a:rPr lang="en-US" altLang="zh-CN" dirty="0" smtClean="0"/>
                        <a:t> </a:t>
                      </a:r>
                      <a:r>
                        <a:rPr lang="en-US" altLang="zh-CN" dirty="0" err="1" smtClean="0"/>
                        <a:t>num_particles</a:t>
                      </a:r>
                      <a:r>
                        <a:rPr lang="en-US" altLang="zh-CN" dirty="0" smtClean="0"/>
                        <a:t> = 123;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num_particles</a:t>
                      </a:r>
                      <a:r>
                        <a:rPr lang="en-US" altLang="zh-CN" dirty="0" smtClean="0"/>
                        <a:t> = 1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60692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double GPA</a:t>
                      </a:r>
                      <a:r>
                        <a:rPr lang="en-US" altLang="zh-CN" baseline="0" dirty="0" smtClean="0"/>
                        <a:t> = 3.5;</a:t>
                      </a:r>
                      <a:r>
                        <a:rPr lang="en-US" altLang="zh-CN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GPA = 3.5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60692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bool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en-US" altLang="zh-CN" dirty="0" err="1" smtClean="0"/>
                        <a:t>boolean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baseline="0" dirty="0" err="1" smtClean="0"/>
                        <a:t>is_tuesday</a:t>
                      </a:r>
                      <a:r>
                        <a:rPr lang="en-US" altLang="zh-CN" baseline="0" dirty="0" smtClean="0"/>
                        <a:t> = true;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 err="1" smtClean="0"/>
                        <a:t>is_tuesday</a:t>
                      </a:r>
                      <a:r>
                        <a:rPr lang="en-US" altLang="zh-CN" baseline="0" dirty="0" smtClean="0"/>
                        <a:t> = True</a:t>
                      </a:r>
                      <a:endParaRPr lang="zh-CN" altLang="en-US" dirty="0" smtClean="0"/>
                    </a:p>
                  </a:txBody>
                  <a:tcPr anchor="ctr"/>
                </a:tc>
              </a:tr>
              <a:tr h="6069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bool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en-US" altLang="zh-CN" dirty="0" err="1" smtClean="0"/>
                        <a:t>boolean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baseline="0" dirty="0" err="1" smtClean="0"/>
                        <a:t>is_thursday</a:t>
                      </a:r>
                      <a:r>
                        <a:rPr lang="en-US" altLang="zh-CN" baseline="0" dirty="0" smtClean="0"/>
                        <a:t> = false;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 err="1" smtClean="0"/>
                        <a:t>is_thursday</a:t>
                      </a:r>
                      <a:r>
                        <a:rPr lang="en-US" altLang="zh-CN" baseline="0" dirty="0" smtClean="0"/>
                        <a:t> = False</a:t>
                      </a:r>
                      <a:endParaRPr lang="zh-CN" altLang="en-US" dirty="0" smtClean="0"/>
                    </a:p>
                  </a:txBody>
                  <a:tcPr anchor="ctr"/>
                </a:tc>
              </a:tr>
              <a:tr h="6069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string name</a:t>
                      </a:r>
                      <a:r>
                        <a:rPr lang="en-US" altLang="zh-CN" baseline="0" dirty="0" smtClean="0"/>
                        <a:t> = “Young”;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name = “Young”</a:t>
                      </a:r>
                      <a:endParaRPr lang="zh-CN" altLang="en-US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44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188640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Why?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8112" y="1224136"/>
            <a:ext cx="8100392" cy="5517232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In Java, the data type is a “</a:t>
            </a:r>
            <a:r>
              <a:rPr lang="en-US" altLang="zh-CN" dirty="0" smtClean="0">
                <a:solidFill>
                  <a:srgbClr val="FF0000"/>
                </a:solidFill>
              </a:rPr>
              <a:t>sentinel</a:t>
            </a:r>
            <a:r>
              <a:rPr lang="en-US" altLang="zh-CN" dirty="0" smtClean="0"/>
              <a:t>” which ensures the variable is assigned to the correct type of value (otherwise error).</a:t>
            </a:r>
            <a:endParaRPr lang="en-US" altLang="zh-CN" dirty="0"/>
          </a:p>
          <a:p>
            <a:pPr marL="82296" indent="0">
              <a:buNone/>
            </a:pPr>
            <a:r>
              <a:rPr lang="en-US" altLang="zh-CN" dirty="0" smtClean="0"/>
              <a:t>  e.g.   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 = 1; 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- </a:t>
            </a:r>
            <a:r>
              <a:rPr lang="en-US" altLang="zh-CN" dirty="0" err="1" smtClean="0">
                <a:solidFill>
                  <a:srgbClr val="FF0000"/>
                </a:solidFill>
              </a:rPr>
              <a:t>int</a:t>
            </a:r>
            <a:r>
              <a:rPr lang="en-US" altLang="zh-CN" dirty="0" smtClean="0"/>
              <a:t> ensures that the variable x only takes on 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integer values throughout its duration</a:t>
            </a:r>
          </a:p>
          <a:p>
            <a:pPr marL="82296" indent="0">
              <a:buNone/>
            </a:pPr>
            <a:r>
              <a:rPr lang="en-US" altLang="zh-CN" dirty="0" smtClean="0"/>
              <a:t>  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c.f.      I (verb) </a:t>
            </a:r>
            <a:r>
              <a:rPr lang="en-US" altLang="zh-CN" dirty="0" smtClean="0">
                <a:solidFill>
                  <a:srgbClr val="FF0000"/>
                </a:solidFill>
              </a:rPr>
              <a:t>yesterday</a:t>
            </a:r>
            <a:r>
              <a:rPr lang="en-US" altLang="zh-CN" dirty="0" smtClean="0"/>
              <a:t>.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- </a:t>
            </a:r>
            <a:r>
              <a:rPr lang="en-US" altLang="zh-CN" dirty="0" smtClean="0">
                <a:solidFill>
                  <a:srgbClr val="FF0000"/>
                </a:solidFill>
              </a:rPr>
              <a:t>yesterday</a:t>
            </a:r>
            <a:r>
              <a:rPr lang="en-US" altLang="zh-CN" dirty="0" smtClean="0"/>
              <a:t> ensures that the verb only comes 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in past tense</a:t>
            </a:r>
          </a:p>
        </p:txBody>
      </p:sp>
    </p:spTree>
    <p:extLst>
      <p:ext uri="{BB962C8B-B14F-4D97-AF65-F5344CB8AC3E}">
        <p14:creationId xmlns:p14="http://schemas.microsoft.com/office/powerpoint/2010/main" val="392762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413792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So what?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6104" y="1879848"/>
            <a:ext cx="8172400" cy="5293568"/>
          </a:xfrm>
        </p:spPr>
        <p:txBody>
          <a:bodyPr/>
          <a:lstStyle/>
          <a:p>
            <a:r>
              <a:rPr lang="en-US" altLang="zh-CN" dirty="0" smtClean="0"/>
              <a:t>The way Java treats variable declaration is sound from various points of view.</a:t>
            </a:r>
          </a:p>
          <a:p>
            <a:endParaRPr lang="en-US" altLang="zh-CN" dirty="0"/>
          </a:p>
          <a:p>
            <a:r>
              <a:rPr lang="en-US" altLang="zh-CN" dirty="0" smtClean="0"/>
              <a:t>Most relevant to us: it prevents the programmer from making obvious, unintentional mistakes (e.g. assigning integer to a string, etc.)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31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16632"/>
            <a:ext cx="7498080" cy="1143000"/>
          </a:xfrm>
        </p:spPr>
        <p:txBody>
          <a:bodyPr/>
          <a:lstStyle/>
          <a:p>
            <a:r>
              <a:rPr lang="en-US" altLang="zh-CN" dirty="0"/>
              <a:t>In Python, </a:t>
            </a:r>
            <a:r>
              <a:rPr lang="en-US" altLang="zh-CN" dirty="0" smtClean="0"/>
              <a:t>all this is </a:t>
            </a:r>
            <a:r>
              <a:rPr lang="en-US" altLang="zh-CN" dirty="0"/>
              <a:t>GONE!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4096" y="1340768"/>
            <a:ext cx="8316416" cy="6165304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A variable is not declared with a fixed type, and also its type can change through its duration without penalty.</a:t>
            </a:r>
            <a:endParaRPr lang="en-US" altLang="zh-CN" dirty="0"/>
          </a:p>
          <a:p>
            <a:r>
              <a:rPr lang="en-US" altLang="zh-CN" dirty="0" smtClean="0"/>
              <a:t>Think of a variable as a </a:t>
            </a:r>
            <a:r>
              <a:rPr lang="en-US" altLang="zh-CN" dirty="0" smtClean="0">
                <a:solidFill>
                  <a:srgbClr val="FF0000"/>
                </a:solidFill>
              </a:rPr>
              <a:t>label</a:t>
            </a:r>
            <a:r>
              <a:rPr lang="en-US" altLang="zh-CN" dirty="0"/>
              <a:t> </a:t>
            </a:r>
            <a:r>
              <a:rPr lang="en-US" altLang="zh-CN" dirty="0" smtClean="0"/>
              <a:t>of memory.</a:t>
            </a:r>
          </a:p>
          <a:p>
            <a:r>
              <a:rPr lang="en-US" altLang="zh-CN" dirty="0" smtClean="0"/>
              <a:t>This introduces subtle bugs especially when many variables are </a:t>
            </a:r>
            <a:r>
              <a:rPr lang="en-US" altLang="zh-CN" dirty="0" smtClean="0">
                <a:solidFill>
                  <a:srgbClr val="FF0000"/>
                </a:solidFill>
              </a:rPr>
              <a:t>passed</a:t>
            </a:r>
            <a:r>
              <a:rPr lang="en-US" altLang="zh-CN" dirty="0" smtClean="0"/>
              <a:t> and </a:t>
            </a:r>
            <a:r>
              <a:rPr lang="en-US" altLang="zh-CN" dirty="0" smtClean="0">
                <a:solidFill>
                  <a:srgbClr val="FF0000"/>
                </a:solidFill>
              </a:rPr>
              <a:t>returned</a:t>
            </a:r>
            <a:r>
              <a:rPr lang="en-US" altLang="zh-CN" dirty="0" smtClean="0"/>
              <a:t> between main and helper functions, e.g.</a:t>
            </a:r>
          </a:p>
          <a:p>
            <a:pPr marL="82296" indent="0">
              <a:buNone/>
            </a:pPr>
            <a:r>
              <a:rPr lang="en-US" altLang="zh-CN" sz="2800" dirty="0" smtClean="0">
                <a:solidFill>
                  <a:srgbClr val="92D050"/>
                </a:solidFill>
              </a:rPr>
              <a:t>    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584176" y="5355213"/>
            <a:ext cx="6804248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82296" indent="0">
              <a:buNone/>
            </a:pPr>
            <a:r>
              <a:rPr lang="en-US" altLang="zh-CN" sz="2800" dirty="0" err="1">
                <a:solidFill>
                  <a:srgbClr val="92D050"/>
                </a:solidFill>
                <a:latin typeface="Sakkal Majalla" pitchFamily="2" charset="-78"/>
                <a:cs typeface="Sakkal Majalla" pitchFamily="2" charset="-78"/>
              </a:rPr>
              <a:t>def</a:t>
            </a:r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sz="2800" dirty="0" err="1" smtClean="0">
                <a:latin typeface="Sakkal Majalla" pitchFamily="2" charset="-78"/>
                <a:cs typeface="Sakkal Majalla" pitchFamily="2" charset="-78"/>
              </a:rPr>
              <a:t>animal_garden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(cat</a:t>
            </a:r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, dog, fish, bird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):</a:t>
            </a:r>
            <a:endParaRPr lang="en-US" altLang="zh-CN" sz="2800" dirty="0">
              <a:latin typeface="Sakkal Majalla" pitchFamily="2" charset="-78"/>
              <a:cs typeface="Sakkal Majalla" pitchFamily="2" charset="-78"/>
            </a:endParaRPr>
          </a:p>
          <a:p>
            <a:pPr marL="82296" indent="0" algn="ctr">
              <a:buNone/>
            </a:pPr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      </a:t>
            </a:r>
            <a:r>
              <a:rPr lang="en-US" altLang="zh-CN" sz="2800" dirty="0">
                <a:solidFill>
                  <a:srgbClr val="0070C0"/>
                </a:solidFill>
                <a:latin typeface="Sakkal Majalla" pitchFamily="2" charset="-78"/>
                <a:cs typeface="Sakkal Majalla" pitchFamily="2" charset="-78"/>
              </a:rPr>
              <a:t>return</a:t>
            </a:r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fish </a:t>
            </a: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and</a:t>
            </a:r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bird, cat + 1, “cute ” + dog</a:t>
            </a:r>
            <a:endParaRPr lang="zh-CN" altLang="en-US" sz="2800" dirty="0">
              <a:latin typeface="Sakkal Majalla" pitchFamily="2" charset="-78"/>
              <a:cs typeface="Sakkal Majalla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3304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-18256"/>
            <a:ext cx="7498080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So why Python?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908720"/>
            <a:ext cx="7776864" cy="5976664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Python offers significant amount of </a:t>
            </a:r>
            <a:r>
              <a:rPr lang="en-US" altLang="zh-CN" dirty="0" smtClean="0">
                <a:solidFill>
                  <a:srgbClr val="FF0000"/>
                </a:solidFill>
              </a:rPr>
              <a:t>freedom</a:t>
            </a:r>
            <a:r>
              <a:rPr lang="en-US" altLang="zh-CN" dirty="0" smtClean="0"/>
              <a:t> toward the programmer which makes reading and writing of code extremely swift.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On the other hand, it puts </a:t>
            </a:r>
            <a:r>
              <a:rPr lang="en-US" altLang="zh-CN" dirty="0" smtClean="0">
                <a:solidFill>
                  <a:srgbClr val="FF0000"/>
                </a:solidFill>
              </a:rPr>
              <a:t>responsibility</a:t>
            </a:r>
            <a:r>
              <a:rPr lang="en-US" altLang="zh-CN" dirty="0" smtClean="0"/>
              <a:t> onto the programmer to keep track of the data flow (sometimes extremely subtle).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564904"/>
            <a:ext cx="2664296" cy="26642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2564904"/>
            <a:ext cx="3447313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1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44624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Caution…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04048" y="2254220"/>
            <a:ext cx="38884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“</a:t>
            </a:r>
            <a:r>
              <a:rPr lang="en-US" altLang="zh-CN" sz="3200" dirty="0" smtClean="0">
                <a:solidFill>
                  <a:srgbClr val="FF0000"/>
                </a:solidFill>
              </a:rPr>
              <a:t>Liberty</a:t>
            </a:r>
            <a:r>
              <a:rPr lang="en-US" altLang="zh-CN" sz="3200" dirty="0" smtClean="0"/>
              <a:t> </a:t>
            </a:r>
            <a:r>
              <a:rPr lang="en-US" altLang="zh-CN" sz="3200" dirty="0"/>
              <a:t>can no more exist without </a:t>
            </a:r>
            <a:r>
              <a:rPr lang="en-US" altLang="zh-CN" sz="3200" dirty="0">
                <a:solidFill>
                  <a:srgbClr val="FF0000"/>
                </a:solidFill>
              </a:rPr>
              <a:t>virtue</a:t>
            </a:r>
            <a:r>
              <a:rPr lang="en-US" altLang="zh-CN" sz="3200" dirty="0"/>
              <a:t> than the body can live and move without a soul</a:t>
            </a:r>
            <a:r>
              <a:rPr lang="en-US" altLang="zh-CN" sz="3200" dirty="0" smtClean="0"/>
              <a:t>.”  </a:t>
            </a:r>
          </a:p>
          <a:p>
            <a:pPr algn="r"/>
            <a:r>
              <a:rPr lang="en-US" altLang="zh-CN" sz="3200" dirty="0" smtClean="0"/>
              <a:t>-- </a:t>
            </a:r>
            <a:r>
              <a:rPr lang="en-US" altLang="zh-CN" sz="3200" dirty="0"/>
              <a:t>John Adams</a:t>
            </a:r>
            <a:endParaRPr lang="zh-CN" altLang="en-US" sz="3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415841"/>
            <a:ext cx="3528762" cy="443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03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78376" y="53752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A few suggestions…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043608" y="1025352"/>
            <a:ext cx="7992888" cy="5932040"/>
          </a:xfrm>
        </p:spPr>
        <p:txBody>
          <a:bodyPr>
            <a:normAutofit lnSpcReduction="10000"/>
          </a:bodyPr>
          <a:lstStyle/>
          <a:p>
            <a:r>
              <a:rPr lang="en-US" altLang="zh-CN" dirty="0" smtClean="0"/>
              <a:t>Overall: always maintain </a:t>
            </a:r>
            <a:r>
              <a:rPr lang="en-US" altLang="zh-CN" dirty="0" smtClean="0">
                <a:solidFill>
                  <a:srgbClr val="FF0000"/>
                </a:solidFill>
              </a:rPr>
              <a:t>good style </a:t>
            </a:r>
            <a:r>
              <a:rPr lang="en-US" altLang="zh-CN" dirty="0" smtClean="0"/>
              <a:t>for your own sake!</a:t>
            </a:r>
          </a:p>
          <a:p>
            <a:r>
              <a:rPr lang="en-US" altLang="zh-CN" dirty="0" smtClean="0"/>
              <a:t>Don’t abuse your new freedom “just because you can”!</a:t>
            </a:r>
          </a:p>
          <a:p>
            <a:pPr marL="82296" indent="0">
              <a:buNone/>
            </a:pPr>
            <a:r>
              <a:rPr lang="en-US" altLang="zh-CN" dirty="0" smtClean="0"/>
              <a:t>  - </a:t>
            </a:r>
            <a:r>
              <a:rPr lang="en-US" altLang="zh-CN" dirty="0" smtClean="0">
                <a:solidFill>
                  <a:srgbClr val="FF0000"/>
                </a:solidFill>
              </a:rPr>
              <a:t>Name</a:t>
            </a:r>
            <a:r>
              <a:rPr lang="en-US" altLang="zh-CN" dirty="0" smtClean="0"/>
              <a:t> the variables in a reasonable way:</a:t>
            </a:r>
          </a:p>
          <a:p>
            <a:pPr marL="82296" indent="0">
              <a:buNone/>
            </a:pPr>
            <a:r>
              <a:rPr lang="en-US" altLang="zh-CN" dirty="0" smtClean="0"/>
              <a:t>     Good:    </a:t>
            </a:r>
            <a:r>
              <a:rPr lang="en-US" altLang="zh-CN" dirty="0" err="1" smtClean="0"/>
              <a:t>num_particles</a:t>
            </a:r>
            <a:r>
              <a:rPr lang="en-US" altLang="zh-CN" dirty="0" smtClean="0"/>
              <a:t> = 1234</a:t>
            </a:r>
          </a:p>
          <a:p>
            <a:pPr marL="82296" indent="0">
              <a:buNone/>
            </a:pPr>
            <a:r>
              <a:rPr lang="en-US" altLang="zh-CN" dirty="0" smtClean="0"/>
              <a:t>     Bad:       </a:t>
            </a:r>
            <a:r>
              <a:rPr lang="en-US" altLang="zh-CN" dirty="0" err="1" smtClean="0"/>
              <a:t>ave_energy</a:t>
            </a:r>
            <a:r>
              <a:rPr lang="en-US" altLang="zh-CN" dirty="0" smtClean="0"/>
              <a:t> = “not cool”</a:t>
            </a:r>
          </a:p>
          <a:p>
            <a:pPr marL="82296" indent="0">
              <a:buNone/>
            </a:pPr>
            <a:r>
              <a:rPr lang="en-US" altLang="zh-CN" dirty="0" smtClean="0"/>
              <a:t>     Bad x 2:  xx = 1</a:t>
            </a:r>
          </a:p>
          <a:p>
            <a:pPr marL="82296" indent="0">
              <a:buNone/>
            </a:pPr>
            <a:r>
              <a:rPr lang="en-US" altLang="zh-CN" dirty="0" smtClean="0"/>
              <a:t>  -  </a:t>
            </a:r>
            <a:r>
              <a:rPr lang="en-US" altLang="zh-CN" dirty="0" smtClean="0">
                <a:solidFill>
                  <a:srgbClr val="FF0000"/>
                </a:solidFill>
              </a:rPr>
              <a:t>Comment</a:t>
            </a:r>
            <a:r>
              <a:rPr lang="en-US" altLang="zh-CN" dirty="0" smtClean="0"/>
              <a:t> thoroughly, especially for 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program with multiple helper functions, </a:t>
            </a:r>
          </a:p>
          <a:p>
            <a:pPr marL="82296" indent="0">
              <a:buNone/>
            </a:pPr>
            <a:r>
              <a:rPr lang="en-US" altLang="zh-CN" dirty="0" smtClean="0"/>
              <a:t>     plotting, complicated data management.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47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22392" y="341784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Examples of basic operation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724744"/>
            <a:ext cx="7708392" cy="4800600"/>
          </a:xfrm>
        </p:spPr>
        <p:txBody>
          <a:bodyPr/>
          <a:lstStyle/>
          <a:p>
            <a:r>
              <a:rPr lang="en-US" altLang="zh-CN" dirty="0" smtClean="0"/>
              <a:t>Arithmetic (+ - * / %)</a:t>
            </a:r>
          </a:p>
          <a:p>
            <a:endParaRPr lang="en-US" altLang="zh-CN" dirty="0"/>
          </a:p>
          <a:p>
            <a:r>
              <a:rPr lang="en-US" altLang="zh-CN" dirty="0" smtClean="0"/>
              <a:t>String operations (concatenating, substring)</a:t>
            </a:r>
          </a:p>
          <a:p>
            <a:endParaRPr lang="en-US" altLang="zh-CN" dirty="0"/>
          </a:p>
          <a:p>
            <a:r>
              <a:rPr lang="en-US" altLang="zh-CN" dirty="0" smtClean="0"/>
              <a:t>Boolean arithmetic (</a:t>
            </a:r>
            <a:r>
              <a:rPr lang="en-US" altLang="zh-CN" dirty="0" smtClean="0">
                <a:solidFill>
                  <a:schemeClr val="accent1"/>
                </a:solidFill>
              </a:rPr>
              <a:t>and</a:t>
            </a:r>
            <a:r>
              <a:rPr lang="en-US" altLang="zh-CN" dirty="0" smtClean="0"/>
              <a:t>, </a:t>
            </a:r>
            <a:r>
              <a:rPr lang="en-US" altLang="zh-CN" dirty="0">
                <a:solidFill>
                  <a:schemeClr val="accent1"/>
                </a:solidFill>
              </a:rPr>
              <a:t>or</a:t>
            </a:r>
            <a:r>
              <a:rPr lang="en-US" altLang="zh-CN" dirty="0" smtClean="0"/>
              <a:t>, </a:t>
            </a:r>
            <a:r>
              <a:rPr lang="en-US" altLang="zh-CN" dirty="0">
                <a:solidFill>
                  <a:schemeClr val="accent1"/>
                </a:solidFill>
              </a:rPr>
              <a:t>not</a:t>
            </a:r>
            <a:r>
              <a:rPr lang="en-US" altLang="zh-CN" dirty="0" smtClean="0"/>
              <a:t>)</a:t>
            </a:r>
          </a:p>
          <a:p>
            <a:endParaRPr lang="en-US" altLang="zh-CN" dirty="0"/>
          </a:p>
          <a:p>
            <a:r>
              <a:rPr lang="en-US" altLang="zh-CN" dirty="0" smtClean="0"/>
              <a:t>Type casting (</a:t>
            </a:r>
            <a:r>
              <a:rPr lang="en-US" altLang="zh-CN" dirty="0" err="1" smtClean="0"/>
              <a:t>str</a:t>
            </a:r>
            <a:r>
              <a:rPr lang="en-US" altLang="zh-CN" dirty="0" smtClean="0"/>
              <a:t>(n),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(s))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973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7944" y="188640"/>
            <a:ext cx="4824536" cy="396044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So you think keeping track of variables is the </a:t>
            </a:r>
            <a:r>
              <a:rPr lang="en-US" altLang="zh-CN" dirty="0" smtClean="0">
                <a:solidFill>
                  <a:srgbClr val="FF0000"/>
                </a:solidFill>
              </a:rPr>
              <a:t>No. 1 killer-bug </a:t>
            </a:r>
            <a:r>
              <a:rPr lang="en-US" altLang="zh-CN" dirty="0" smtClean="0"/>
              <a:t>for beginning Python programming?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620688"/>
            <a:ext cx="3888432" cy="5832648"/>
          </a:xfrm>
        </p:spPr>
      </p:pic>
      <p:sp>
        <p:nvSpPr>
          <p:cNvPr id="5" name="标题 1"/>
          <p:cNvSpPr txBox="1">
            <a:spLocks/>
          </p:cNvSpPr>
          <p:nvPr/>
        </p:nvSpPr>
        <p:spPr>
          <a:xfrm>
            <a:off x="4067944" y="5166320"/>
            <a:ext cx="7746064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altLang="zh-CN" dirty="0" smtClean="0"/>
              <a:t>But not quite…</a:t>
            </a:r>
            <a:endParaRPr lang="zh-CN" altLang="en-US" dirty="0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4067944" y="4086200"/>
            <a:ext cx="7746064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altLang="zh-CN" dirty="0" smtClean="0"/>
              <a:t>Duh!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020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1002400" y="629816"/>
            <a:ext cx="7746064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altLang="zh-CN" dirty="0" smtClean="0"/>
              <a:t>You’ve seen but overlooked it…</a:t>
            </a:r>
            <a:endParaRPr lang="zh-CN" altLang="en-US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1002400" y="3068960"/>
            <a:ext cx="7746064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altLang="zh-CN" dirty="0" smtClean="0"/>
              <a:t>But you probably don’t know…</a:t>
            </a:r>
            <a:endParaRPr lang="zh-CN" altLang="en-US" dirty="0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506456" y="4149080"/>
            <a:ext cx="7746064" cy="1143000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altLang="zh-CN" dirty="0" smtClean="0"/>
              <a:t>… that it’s really “a thing in itself”…</a:t>
            </a:r>
            <a:endParaRPr lang="zh-CN" altLang="en-US" dirty="0"/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1259632" y="1484784"/>
            <a:ext cx="79208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altLang="zh-CN" dirty="0" smtClean="0"/>
              <a:t>… ever since your first program…</a:t>
            </a:r>
            <a:endParaRPr lang="zh-CN" alt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2514568" y="5094312"/>
            <a:ext cx="7746064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altLang="zh-CN" dirty="0" smtClean="0"/>
              <a:t>… and that’s why it kills 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687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25760"/>
            <a:ext cx="7746064" cy="11430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Indentation!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196752"/>
            <a:ext cx="8244408" cy="5520680"/>
          </a:xfrm>
        </p:spPr>
        <p:txBody>
          <a:bodyPr>
            <a:normAutofit lnSpcReduction="10000"/>
          </a:bodyPr>
          <a:lstStyle/>
          <a:p>
            <a:r>
              <a:rPr lang="en-US" altLang="zh-CN" dirty="0" smtClean="0"/>
              <a:t>A significant feature of Python syntax is that is uses </a:t>
            </a:r>
            <a:r>
              <a:rPr lang="en-US" altLang="zh-CN" dirty="0" smtClean="0">
                <a:solidFill>
                  <a:srgbClr val="FF0000"/>
                </a:solidFill>
              </a:rPr>
              <a:t>indentation</a:t>
            </a:r>
            <a:r>
              <a:rPr lang="en-US" altLang="zh-CN" dirty="0" smtClean="0"/>
              <a:t> (since Python does not use “{ }” as Java or C++) to indicate the beginning and end of a </a:t>
            </a:r>
            <a:r>
              <a:rPr lang="en-US" altLang="zh-CN" dirty="0" smtClean="0">
                <a:solidFill>
                  <a:srgbClr val="FF0000"/>
                </a:solidFill>
              </a:rPr>
              <a:t>function, loop, if statement</a:t>
            </a:r>
            <a:r>
              <a:rPr lang="en-US" altLang="zh-CN" dirty="0" smtClean="0"/>
              <a:t>, etc.</a:t>
            </a:r>
          </a:p>
          <a:p>
            <a:endParaRPr lang="en-US" altLang="zh-CN" dirty="0"/>
          </a:p>
          <a:p>
            <a:r>
              <a:rPr lang="en-US" altLang="zh-CN" dirty="0" smtClean="0"/>
              <a:t>This facilitates readability of the code but can also introduce </a:t>
            </a:r>
            <a:r>
              <a:rPr lang="en-US" altLang="zh-CN" b="1" dirty="0" smtClean="0"/>
              <a:t>extremely subtle</a:t>
            </a:r>
            <a:r>
              <a:rPr lang="en-US" altLang="zh-CN" dirty="0" smtClean="0"/>
              <a:t> bugs.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smtClean="0"/>
              <a:t> Fortunately, in most text editors (like </a:t>
            </a:r>
            <a:r>
              <a:rPr lang="en-US" altLang="zh-CN" dirty="0" err="1" smtClean="0"/>
              <a:t>emacs</a:t>
            </a:r>
            <a:r>
              <a:rPr lang="en-US" altLang="zh-CN" dirty="0" smtClean="0"/>
              <a:t>) one can easily adjust to the correct indentation commonly by hitting &lt;Tab&gt;.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42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116632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So how does indentation work?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268760"/>
            <a:ext cx="7498080" cy="4896544"/>
          </a:xfrm>
        </p:spPr>
        <p:txBody>
          <a:bodyPr/>
          <a:lstStyle/>
          <a:p>
            <a:r>
              <a:rPr lang="en-US" altLang="zh-CN" dirty="0" smtClean="0"/>
              <a:t>For loop and </a:t>
            </a:r>
            <a:r>
              <a:rPr lang="en-US" altLang="zh-CN" dirty="0" smtClean="0">
                <a:solidFill>
                  <a:srgbClr val="FF0000"/>
                </a:solidFill>
                <a:latin typeface="Sakkal Majalla" pitchFamily="2" charset="-78"/>
                <a:ea typeface="Cambria Math" pitchFamily="18" charset="0"/>
                <a:cs typeface="Sakkal Majalla" pitchFamily="2" charset="-78"/>
              </a:rPr>
              <a:t>range()</a:t>
            </a:r>
            <a:r>
              <a:rPr lang="en-US" altLang="zh-CN" dirty="0" smtClean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dirty="0" smtClean="0"/>
              <a:t>function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</a:t>
            </a:r>
          </a:p>
          <a:p>
            <a:endParaRPr lang="en-US" altLang="zh-CN" dirty="0"/>
          </a:p>
          <a:p>
            <a:pPr marL="82296" indent="0">
              <a:buNone/>
            </a:pPr>
            <a:r>
              <a:rPr lang="en-US" altLang="zh-CN" dirty="0" smtClean="0"/>
              <a:t> 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59632" y="2060848"/>
            <a:ext cx="3312368" cy="44012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# start of for loop</a:t>
            </a:r>
          </a:p>
          <a:p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f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or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Sakkal Majalla" pitchFamily="2" charset="-78"/>
                <a:cs typeface="Sakkal Majalla" pitchFamily="2" charset="-78"/>
              </a:rPr>
              <a:t>elem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in </a:t>
            </a:r>
            <a:r>
              <a:rPr lang="en-US" altLang="zh-CN" sz="2800" i="1" dirty="0" smtClean="0">
                <a:solidFill>
                  <a:srgbClr val="FF0000"/>
                </a:solidFill>
                <a:latin typeface="Sakkal Majalla" pitchFamily="2" charset="-78"/>
                <a:cs typeface="Sakkal Majalla" pitchFamily="2" charset="-78"/>
              </a:rPr>
              <a:t>collection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:</a:t>
            </a:r>
          </a:p>
          <a:p>
            <a:endParaRPr lang="en-US" altLang="zh-CN" sz="2800" dirty="0" smtClean="0">
              <a:latin typeface="Sakkal Majalla" pitchFamily="2" charset="-78"/>
              <a:cs typeface="Sakkal Majalla" pitchFamily="2" charset="-78"/>
            </a:endParaRPr>
          </a:p>
          <a:p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     # inside for loop</a:t>
            </a:r>
          </a:p>
          <a:p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   command1</a:t>
            </a:r>
          </a:p>
          <a:p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   command2</a:t>
            </a:r>
          </a:p>
          <a:p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   …</a:t>
            </a:r>
          </a:p>
          <a:p>
            <a:endParaRPr lang="en-US" altLang="zh-CN" sz="2800" dirty="0" smtClean="0">
              <a:latin typeface="Sakkal Majalla" pitchFamily="2" charset="-78"/>
              <a:cs typeface="Sakkal Majalla" pitchFamily="2" charset="-78"/>
            </a:endParaRPr>
          </a:p>
          <a:p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# end of for loop</a:t>
            </a:r>
          </a:p>
          <a:p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command3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4915" y="2060848"/>
            <a:ext cx="34255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Exercise 1: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 smtClean="0"/>
              <a:t>Print all natural </a:t>
            </a:r>
            <a:r>
              <a:rPr lang="en-US" altLang="zh-CN" sz="2800" dirty="0"/>
              <a:t>numbers less than </a:t>
            </a:r>
            <a:r>
              <a:rPr lang="en-US" altLang="zh-CN" sz="2800" dirty="0" smtClean="0"/>
              <a:t>10.</a:t>
            </a:r>
            <a:endParaRPr lang="zh-CN" alt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5034915" y="4205406"/>
            <a:ext cx="34255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Exercise 2: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 smtClean="0"/>
              <a:t>Do the same thing with while loop.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1366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620688"/>
            <a:ext cx="7498080" cy="4800600"/>
          </a:xfrm>
        </p:spPr>
        <p:txBody>
          <a:bodyPr/>
          <a:lstStyle/>
          <a:p>
            <a:r>
              <a:rPr lang="en-US" altLang="zh-CN" dirty="0"/>
              <a:t>If / </a:t>
            </a:r>
            <a:r>
              <a:rPr lang="en-US" altLang="zh-CN" dirty="0" smtClean="0"/>
              <a:t>else control </a:t>
            </a:r>
            <a:r>
              <a:rPr lang="en-US" altLang="zh-CN" dirty="0"/>
              <a:t>statement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7402" y="1484784"/>
            <a:ext cx="3960440" cy="48320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# start of if statement</a:t>
            </a:r>
          </a:p>
          <a:p>
            <a:r>
              <a:rPr lang="en-US" altLang="zh-CN" sz="2800" dirty="0">
                <a:solidFill>
                  <a:srgbClr val="FF0000"/>
                </a:solidFill>
                <a:latin typeface="Sakkal Majalla" pitchFamily="2" charset="-78"/>
                <a:cs typeface="Sakkal Majalla" pitchFamily="2" charset="-78"/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  <a:latin typeface="Sakkal Majalla" pitchFamily="2" charset="-78"/>
                <a:cs typeface="Sakkal Majalla" pitchFamily="2" charset="-78"/>
              </a:rPr>
              <a:t>f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condition1:</a:t>
            </a:r>
          </a:p>
          <a:p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   </a:t>
            </a:r>
            <a:r>
              <a:rPr lang="en-US" altLang="zh-CN" sz="2800" i="1" dirty="0" smtClean="0">
                <a:latin typeface="Sakkal Majalla" pitchFamily="2" charset="-78"/>
                <a:cs typeface="Sakkal Majalla" pitchFamily="2" charset="-78"/>
              </a:rPr>
              <a:t>command1</a:t>
            </a:r>
          </a:p>
          <a:p>
            <a:r>
              <a:rPr lang="en-US" altLang="zh-CN" sz="2800" dirty="0" err="1">
                <a:solidFill>
                  <a:srgbClr val="FF0000"/>
                </a:solidFill>
                <a:latin typeface="Sakkal Majalla" pitchFamily="2" charset="-78"/>
                <a:cs typeface="Sakkal Majalla" pitchFamily="2" charset="-78"/>
              </a:rPr>
              <a:t>elif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condition2:</a:t>
            </a:r>
          </a:p>
          <a:p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  </a:t>
            </a:r>
            <a:r>
              <a:rPr lang="en-US" altLang="zh-CN" sz="2800" i="1" dirty="0" smtClean="0">
                <a:latin typeface="Sakkal Majalla" pitchFamily="2" charset="-78"/>
                <a:cs typeface="Sakkal Majalla" pitchFamily="2" charset="-78"/>
              </a:rPr>
              <a:t>command2</a:t>
            </a:r>
          </a:p>
          <a:p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…</a:t>
            </a:r>
          </a:p>
          <a:p>
            <a:r>
              <a:rPr lang="en-US" altLang="zh-CN" sz="2800" dirty="0" smtClean="0">
                <a:solidFill>
                  <a:srgbClr val="FF0000"/>
                </a:solidFill>
                <a:latin typeface="Sakkal Majalla" pitchFamily="2" charset="-78"/>
                <a:cs typeface="Sakkal Majalla" pitchFamily="2" charset="-78"/>
              </a:rPr>
              <a:t>else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condition3 (optional):</a:t>
            </a:r>
          </a:p>
          <a:p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  </a:t>
            </a:r>
            <a:r>
              <a:rPr lang="en-US" altLang="zh-CN" sz="2800" i="1" dirty="0" smtClean="0">
                <a:latin typeface="Sakkal Majalla" pitchFamily="2" charset="-78"/>
                <a:cs typeface="Sakkal Majalla" pitchFamily="2" charset="-78"/>
              </a:rPr>
              <a:t>command3</a:t>
            </a:r>
          </a:p>
          <a:p>
            <a:endParaRPr lang="en-US" altLang="zh-CN" sz="2800" dirty="0" smtClean="0">
              <a:latin typeface="Sakkal Majalla" pitchFamily="2" charset="-78"/>
              <a:cs typeface="Sakkal Majalla" pitchFamily="2" charset="-78"/>
            </a:endParaRPr>
          </a:p>
          <a:p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# end of if statement</a:t>
            </a:r>
          </a:p>
          <a:p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sz="2800" i="1" dirty="0" smtClean="0">
                <a:latin typeface="Sakkal Majalla" pitchFamily="2" charset="-78"/>
                <a:cs typeface="Sakkal Majalla" pitchFamily="2" charset="-78"/>
              </a:rPr>
              <a:t>commands…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6963" y="1905794"/>
            <a:ext cx="342551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Exercise 3: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 smtClean="0"/>
              <a:t>Write the program which determines and prints out whether a given real number is positive, zero, or negative.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7696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600" y="404664"/>
            <a:ext cx="7498080" cy="4800600"/>
          </a:xfrm>
        </p:spPr>
        <p:txBody>
          <a:bodyPr/>
          <a:lstStyle/>
          <a:p>
            <a:r>
              <a:rPr lang="en-US" altLang="zh-CN" dirty="0"/>
              <a:t>Definition of function</a:t>
            </a:r>
          </a:p>
          <a:p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51720" y="1124744"/>
            <a:ext cx="5688632" cy="35394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# start of definition</a:t>
            </a:r>
          </a:p>
          <a:p>
            <a:r>
              <a:rPr lang="en-US" altLang="zh-CN" sz="2800" dirty="0" err="1" smtClean="0">
                <a:solidFill>
                  <a:srgbClr val="92D050"/>
                </a:solidFill>
                <a:latin typeface="Sakkal Majalla" pitchFamily="2" charset="-78"/>
                <a:cs typeface="Sakkal Majalla" pitchFamily="2" charset="-78"/>
              </a:rPr>
              <a:t>def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sz="2800" dirty="0" err="1" smtClean="0">
                <a:solidFill>
                  <a:srgbClr val="FF0000"/>
                </a:solidFill>
                <a:latin typeface="Sakkal Majalla" pitchFamily="2" charset="-78"/>
                <a:cs typeface="Sakkal Majalla" pitchFamily="2" charset="-78"/>
              </a:rPr>
              <a:t>function_name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(parameter1, parameter2,…):</a:t>
            </a:r>
          </a:p>
          <a:p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  </a:t>
            </a:r>
            <a:r>
              <a:rPr lang="en-US" altLang="zh-CN" sz="2800" i="1" dirty="0" smtClean="0">
                <a:latin typeface="Sakkal Majalla" pitchFamily="2" charset="-78"/>
                <a:cs typeface="Sakkal Majalla" pitchFamily="2" charset="-78"/>
              </a:rPr>
              <a:t>commands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…</a:t>
            </a:r>
          </a:p>
          <a:p>
            <a:endParaRPr lang="en-US" altLang="zh-CN" sz="2800" dirty="0" smtClean="0">
              <a:latin typeface="Sakkal Majalla" pitchFamily="2" charset="-78"/>
              <a:cs typeface="Sakkal Majalla" pitchFamily="2" charset="-78"/>
            </a:endParaRPr>
          </a:p>
          <a:p>
            <a:r>
              <a:rPr lang="en-US" altLang="zh-CN" sz="2800" dirty="0">
                <a:latin typeface="Sakkal Majalla" pitchFamily="2" charset="-78"/>
                <a:cs typeface="Sakkal Majalla" pitchFamily="2" charset="-78"/>
              </a:rPr>
              <a:t> 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  </a:t>
            </a: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# </a:t>
            </a:r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can return </a:t>
            </a: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multiple </a:t>
            </a:r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objects of different types</a:t>
            </a:r>
            <a:endParaRPr lang="en-US" altLang="zh-CN" sz="2800" dirty="0">
              <a:solidFill>
                <a:schemeClr val="tx2">
                  <a:lumMod val="60000"/>
                  <a:lumOff val="40000"/>
                </a:schemeClr>
              </a:solidFill>
              <a:latin typeface="Sakkal Majalla" pitchFamily="2" charset="-78"/>
              <a:cs typeface="Sakkal Majalla" pitchFamily="2" charset="-78"/>
            </a:endParaRPr>
          </a:p>
          <a:p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    return object1, object2,…</a:t>
            </a:r>
          </a:p>
          <a:p>
            <a:endParaRPr lang="en-US" altLang="zh-CN" sz="2800" dirty="0">
              <a:solidFill>
                <a:schemeClr val="tx2">
                  <a:lumMod val="60000"/>
                  <a:lumOff val="40000"/>
                </a:schemeClr>
              </a:solidFill>
              <a:latin typeface="Sakkal Majalla" pitchFamily="2" charset="-78"/>
              <a:cs typeface="Sakkal Majalla" pitchFamily="2" charset="-78"/>
            </a:endParaRPr>
          </a:p>
          <a:p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akkal Majalla" pitchFamily="2" charset="-78"/>
                <a:cs typeface="Sakkal Majalla" pitchFamily="2" charset="-78"/>
              </a:rPr>
              <a:t># end of definition</a:t>
            </a:r>
            <a:endParaRPr lang="en-US" altLang="zh-CN" sz="2800" dirty="0">
              <a:solidFill>
                <a:schemeClr val="tx2">
                  <a:lumMod val="60000"/>
                  <a:lumOff val="40000"/>
                </a:schemeClr>
              </a:solidFill>
              <a:latin typeface="Sakkal Majalla" pitchFamily="2" charset="-78"/>
              <a:cs typeface="Sakkal Majalla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7624" y="4869160"/>
            <a:ext cx="78402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Exercise 4: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 smtClean="0"/>
              <a:t>Write the program </a:t>
            </a:r>
            <a:r>
              <a:rPr lang="en-US" altLang="zh-CN" sz="2800" dirty="0" err="1" smtClean="0">
                <a:latin typeface="Sakkal Majalla" pitchFamily="2" charset="-78"/>
                <a:cs typeface="Sakkal Majalla" pitchFamily="2" charset="-78"/>
              </a:rPr>
              <a:t>is_prime</a:t>
            </a:r>
            <a:r>
              <a:rPr lang="en-US" altLang="zh-CN" sz="2800" dirty="0" smtClean="0">
                <a:latin typeface="Sakkal Majalla" pitchFamily="2" charset="-78"/>
                <a:cs typeface="Sakkal Majalla" pitchFamily="2" charset="-78"/>
              </a:rPr>
              <a:t>() </a:t>
            </a:r>
            <a:r>
              <a:rPr lang="en-US" altLang="zh-CN" sz="2800" dirty="0" smtClean="0"/>
              <a:t>which takes a positive integer and determines whether it is a prime number.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6273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75856" y="1709936"/>
            <a:ext cx="3312368" cy="1143000"/>
          </a:xfrm>
        </p:spPr>
        <p:txBody>
          <a:bodyPr>
            <a:normAutofit/>
          </a:bodyPr>
          <a:lstStyle/>
          <a:p>
            <a:r>
              <a:rPr lang="en-US" altLang="zh-CN" sz="5400" dirty="0" smtClean="0"/>
              <a:t>Lab Time!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78722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Wrap-up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484784"/>
            <a:ext cx="7498080" cy="5149552"/>
          </a:xfrm>
        </p:spPr>
        <p:txBody>
          <a:bodyPr/>
          <a:lstStyle/>
          <a:p>
            <a:r>
              <a:rPr lang="en-US" altLang="zh-CN" dirty="0" smtClean="0"/>
              <a:t>In this lecture we have covered: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- course content, learning goals, logistics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- basic python syntax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- </a:t>
            </a:r>
            <a:r>
              <a:rPr lang="en-US" altLang="zh-CN" dirty="0" smtClean="0">
                <a:solidFill>
                  <a:srgbClr val="FF0000"/>
                </a:solidFill>
              </a:rPr>
              <a:t>variable</a:t>
            </a:r>
            <a:r>
              <a:rPr lang="en-US" altLang="zh-CN" dirty="0" smtClean="0"/>
              <a:t> assignment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- </a:t>
            </a:r>
            <a:r>
              <a:rPr lang="en-US" altLang="zh-CN" dirty="0" smtClean="0">
                <a:solidFill>
                  <a:srgbClr val="FF0000"/>
                </a:solidFill>
              </a:rPr>
              <a:t>indentation</a:t>
            </a:r>
            <a:r>
              <a:rPr lang="en-US" altLang="zh-CN" dirty="0" smtClean="0"/>
              <a:t> (control flow)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- for / while loops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- if / else statements</a:t>
            </a:r>
          </a:p>
          <a:p>
            <a:pPr marL="82296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- </a:t>
            </a:r>
            <a:r>
              <a:rPr lang="en-US" altLang="zh-CN" dirty="0" err="1" smtClean="0"/>
              <a:t>def</a:t>
            </a:r>
            <a:r>
              <a:rPr lang="en-US" altLang="zh-CN" dirty="0" smtClean="0"/>
              <a:t> / return function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468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413792"/>
            <a:ext cx="7498080" cy="1143000"/>
          </a:xfrm>
        </p:spPr>
        <p:txBody>
          <a:bodyPr/>
          <a:lstStyle/>
          <a:p>
            <a:r>
              <a:rPr lang="en-US" altLang="zh-CN" dirty="0" smtClean="0"/>
              <a:t>Next time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868760"/>
            <a:ext cx="7498080" cy="4800600"/>
          </a:xfrm>
        </p:spPr>
        <p:txBody>
          <a:bodyPr/>
          <a:lstStyle/>
          <a:p>
            <a:r>
              <a:rPr lang="en-US" altLang="zh-CN" dirty="0" smtClean="0"/>
              <a:t>More advanced python syntax</a:t>
            </a:r>
          </a:p>
          <a:p>
            <a:r>
              <a:rPr lang="en-US" altLang="zh-CN" dirty="0" smtClean="0"/>
              <a:t>List </a:t>
            </a:r>
            <a:r>
              <a:rPr lang="en-US" altLang="zh-CN" dirty="0" smtClean="0">
                <a:solidFill>
                  <a:srgbClr val="FF0000"/>
                </a:solidFill>
              </a:rPr>
              <a:t>(most important of all!)</a:t>
            </a:r>
          </a:p>
          <a:p>
            <a:r>
              <a:rPr lang="en-US" altLang="zh-CN" dirty="0" smtClean="0"/>
              <a:t>Dictionary</a:t>
            </a:r>
          </a:p>
          <a:p>
            <a:r>
              <a:rPr lang="en-US" altLang="zh-CN" dirty="0" smtClean="0"/>
              <a:t>More about debugging</a:t>
            </a:r>
          </a:p>
          <a:p>
            <a:r>
              <a:rPr lang="en-US" altLang="zh-CN" dirty="0" smtClean="0"/>
              <a:t>Importing and using modules </a:t>
            </a:r>
            <a:endParaRPr lang="zh-CN" altLang="en-US" dirty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1394400" y="3654152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74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3648" y="-27384"/>
            <a:ext cx="749808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Things to think about / do</a:t>
            </a:r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50384" y="1148680"/>
            <a:ext cx="7498080" cy="4800600"/>
          </a:xfrm>
        </p:spPr>
        <p:txBody>
          <a:bodyPr/>
          <a:lstStyle/>
          <a:p>
            <a:r>
              <a:rPr lang="en-US" altLang="zh-CN" dirty="0" smtClean="0"/>
              <a:t>Come up with more sophisticated python programs using the syntax we’ve learned today and </a:t>
            </a:r>
            <a:r>
              <a:rPr lang="en-US" altLang="zh-CN" dirty="0" smtClean="0">
                <a:solidFill>
                  <a:srgbClr val="FF0000"/>
                </a:solidFill>
              </a:rPr>
              <a:t>YOUR CREATIVITY</a:t>
            </a:r>
            <a:r>
              <a:rPr lang="en-US" altLang="zh-CN" dirty="0" smtClean="0"/>
              <a:t>!</a:t>
            </a:r>
            <a:endParaRPr lang="zh-CN" altLang="en-US" dirty="0"/>
          </a:p>
        </p:txBody>
      </p:sp>
      <p:sp>
        <p:nvSpPr>
          <p:cNvPr id="4" name="AutoShape 2" descr="http://upload.wikimedia.org/wikipedia/commons/9/9b/Mad_scientist_transparent_background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http://upload.wikimedia.org/wikipedia/commons/9/9b/Mad_scientist_transparent_background.sv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2996952"/>
            <a:ext cx="3600400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7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940</TotalTime>
  <Words>1479</Words>
  <Application>Microsoft Office PowerPoint</Application>
  <PresentationFormat>全屏显示(4:3)</PresentationFormat>
  <Paragraphs>261</Paragraphs>
  <Slides>30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夏至</vt:lpstr>
      <vt:lpstr>    Lecture 1  - Introduction - Basic Python Syntax</vt:lpstr>
      <vt:lpstr>Learning Goals</vt:lpstr>
      <vt:lpstr>Logistics</vt:lpstr>
      <vt:lpstr>Course Content Overview</vt:lpstr>
      <vt:lpstr>General Learning Goals</vt:lpstr>
      <vt:lpstr>You should know the answers to…</vt:lpstr>
      <vt:lpstr>Magic words... always ask yourself…</vt:lpstr>
      <vt:lpstr>Grading Policy</vt:lpstr>
      <vt:lpstr>Programming Prerequisites</vt:lpstr>
      <vt:lpstr>General advice for learning new syntax</vt:lpstr>
      <vt:lpstr>Basic Python Syntax</vt:lpstr>
      <vt:lpstr>Variable Declaration</vt:lpstr>
      <vt:lpstr>PowerPoint 演示文稿</vt:lpstr>
      <vt:lpstr>Why?</vt:lpstr>
      <vt:lpstr>So what?</vt:lpstr>
      <vt:lpstr>In Python, all this is GONE!</vt:lpstr>
      <vt:lpstr>So why Python?</vt:lpstr>
      <vt:lpstr>Caution…</vt:lpstr>
      <vt:lpstr>A few suggestions…</vt:lpstr>
      <vt:lpstr>Examples of basic operation</vt:lpstr>
      <vt:lpstr>So you think keeping track of variables is the No. 1 killer-bug for beginning Python programming?</vt:lpstr>
      <vt:lpstr>PowerPoint 演示文稿</vt:lpstr>
      <vt:lpstr>Indentation!</vt:lpstr>
      <vt:lpstr>So how does indentation work?</vt:lpstr>
      <vt:lpstr>PowerPoint 演示文稿</vt:lpstr>
      <vt:lpstr>PowerPoint 演示文稿</vt:lpstr>
      <vt:lpstr>Lab Time!</vt:lpstr>
      <vt:lpstr>Wrap-up</vt:lpstr>
      <vt:lpstr>Next time</vt:lpstr>
      <vt:lpstr>Things to think about / do…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</dc:title>
  <dc:creator>admin</dc:creator>
  <cp:lastModifiedBy>admin</cp:lastModifiedBy>
  <cp:revision>615</cp:revision>
  <dcterms:created xsi:type="dcterms:W3CDTF">2015-03-29T04:32:39Z</dcterms:created>
  <dcterms:modified xsi:type="dcterms:W3CDTF">2015-03-31T10:03:47Z</dcterms:modified>
</cp:coreProperties>
</file>